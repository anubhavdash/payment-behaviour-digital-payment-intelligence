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685800"/>
            <a:ext cx="3108960" cy="310896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1417320"/>
            <a:ext cx="1645920" cy="1645920"/>
          </a:xfrm>
          <a:prstGeom prst="ellipse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72237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3D0D0"/>
                </a:solidFill>
                <a:latin typeface="Aptos"/>
              </a:rPr>
              <a:t>AMITY SCHOOL OF ENGINEERING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77240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PAYMENT BEHAVIOUR &amp;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DIGITAL PAYMENT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8580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D9E7F3"/>
                </a:solidFill>
                <a:latin typeface="Aptos"/>
              </a:rPr>
              <a:t>Customer segmentation with unsupervised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713232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D9E7F3"/>
                </a:solidFill>
                <a:latin typeface="Aptos"/>
              </a:rPr>
              <a:t>Fundamentals of Machine Learning  |  MLE2503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D9E7F3"/>
                </a:solidFill>
                <a:latin typeface="Aptos"/>
              </a:rPr>
              <a:t>5th Semester  |  July-December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6949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3D0D0"/>
                </a:solidFill>
                <a:latin typeface="Aptos"/>
              </a:rPr>
              <a:t>Student: Anubhav Dash      UID: A501132524011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4754880"/>
            <a:ext cx="23774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PBL</a:t>
            </a:r>
          </a:p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The problem: one checkout policy does not fit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01 / PROBLEM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" cy="18288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39"/>
            <a:ext cx="3200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Different payment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11095"/>
            <a:ext cx="3200400" cy="1133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UPI, cards, digital wallets, cash, and EMI/BNPL can reflect different transaction patterns.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182880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39"/>
            <a:ext cx="3200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Different behaviours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11095"/>
            <a:ext cx="3200400" cy="1133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Customers differ in spend, frequency, cashback use, discount depth, and channel.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25880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25880"/>
            <a:ext cx="64008" cy="1828800"/>
          </a:xfrm>
          <a:prstGeom prst="rect">
            <a:avLst/>
          </a:prstGeom>
          <a:solidFill>
            <a:srgbClr val="A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39"/>
            <a:ext cx="3200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Business 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11095"/>
            <a:ext cx="3200400" cy="11338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Uniform offers can waste incentive budget; digital-only flows can overlook cash-preferring users.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233F"/>
                </a:solidFill>
                <a:latin typeface="Aptos"/>
              </a:rP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1051560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33247"/>
                </a:solidFill>
                <a:latin typeface="Aptos"/>
              </a:rPr>
              <a:t>Discover data-driven customer segments, evaluate how much behaviour adds beyond payment method alone, and translate the results into responsible checkout, cashback, and EMI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Project objectives and success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01 / PROBLEM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212080" cy="4480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Inspect, clean, and document transaction records.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Aggregate to customer-level payment and behaviour features.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Standardize features and compare K-Means with Ward agglomerative clustering.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Compare payment-only features against payment + spend + frequency + offers.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Evaluate with Elbow, Silhouette, Davies-Bouldin, PCA, and cluster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417320"/>
            <a:ext cx="64008" cy="11430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54480"/>
            <a:ext cx="4526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Not a prediction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02536"/>
            <a:ext cx="45262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No labelled outcome is provided; the core task is unsupervised customer segmentation.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64008" cy="114300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526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Business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28416"/>
            <a:ext cx="45262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A mathematically clean cluster is useful only if the profile supports a justified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69080"/>
            <a:ext cx="48463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069080"/>
            <a:ext cx="64008" cy="1143000"/>
          </a:xfrm>
          <a:prstGeom prst="rect">
            <a:avLst/>
          </a:prstGeom>
          <a:solidFill>
            <a:srgbClr val="A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5262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Data integrity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54296"/>
            <a:ext cx="45262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All experimental data are synthetic; insights are demonstrations, not population estimates.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Why payment intelligence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02 / SUPPORTING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64008" cy="1874519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2233F"/>
                </a:solidFill>
                <a:latin typeface="Aptos"/>
              </a:rPr>
              <a:t>99.8%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56816"/>
            <a:ext cx="3108960" cy="11795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RBI reported digital transactions accounted for 99.8% of volume of non-cash retail payments in FY 2023-24. 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371600"/>
            <a:ext cx="64008" cy="1874519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0876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2233F"/>
                </a:solidFill>
                <a:latin typeface="Aptos"/>
              </a:rPr>
              <a:t>79.6%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56816"/>
            <a:ext cx="3108960" cy="11795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UPI share of retail payment transaction volume in FY 2023-24, according to RBI publication. 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64008" cy="1874519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08760"/>
            <a:ext cx="31089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Global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56816"/>
            <a:ext cx="3108960" cy="11795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World Bank Global Findex 2025 tracks account access and use, payments, borrowing, and digital connectivity. [3]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Method choices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10607040" cy="15544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K-Means provides a scalable centroid-based baseline; Ward clustering provides a hierarchical alternative. [4]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Silhouette and Davies-Bouldin complement the Elbow curve; PCA helps visualize, but does not prove, separation. [4, 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Context figures are external RBI statistics and are not produced by the synthetic project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Dataset: transaction-level inputs → customer-level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03 / DATA AND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444752"/>
            <a:ext cx="2286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E7C86"/>
                </a:solidFill>
                <a:latin typeface="Aptos"/>
              </a:rPr>
              <a:t>7,535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92024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raw transaction rows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444752"/>
            <a:ext cx="2286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E7C86"/>
                </a:solidFill>
                <a:latin typeface="Apto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92024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transaction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2286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E7C86"/>
                </a:solidFill>
                <a:latin typeface="Aptos"/>
              </a:rPr>
              <a:t>720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synthetic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59" y="13258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599" y="1444752"/>
            <a:ext cx="2286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0E7C86"/>
                </a:solidFill>
                <a:latin typeface="Aptos"/>
              </a:rPr>
              <a:t>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599" y="1920240"/>
            <a:ext cx="2286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observation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5212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Input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383280"/>
            <a:ext cx="5120640" cy="2194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Transaction amount and date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Payment mode: UPI, card, wallet, cash, EMI/BNPL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Channel and merchant category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Cashback, discount, promotion and EMI tenure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926080"/>
            <a:ext cx="51206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233F"/>
                </a:solidFill>
                <a:latin typeface="Aptos"/>
              </a:rPr>
              <a:t>Data quality issues injected for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383280"/>
            <a:ext cx="5120640" cy="21945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44 duplicate transaction IDs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90 missing payment modes and other missing fields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28 non-positive amount rows</a:t>
            </a:r>
          </a:p>
          <a:p>
            <a:pPr>
              <a:spcAft>
                <a:spcPts val="900"/>
              </a:spcAft>
            </a:pPr>
            <a:r>
              <a:rPr sz="1300">
                <a:solidFill>
                  <a:srgbClr val="233247"/>
                </a:solidFill>
                <a:latin typeface="Aptos"/>
              </a:rPr>
              <a:t>• Extreme positive values capped at 99.5th percentile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A44949"/>
                </a:solidFill>
                <a:latin typeface="Aptos"/>
              </a:rPr>
              <a:t>Generated dataset is reproducible; no real customers or payment credentials are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Data cleaning and exploratory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03 / DATA AND 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payment_mo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03520" cy="2971800"/>
          </a:xfrm>
          <a:prstGeom prst="rect">
            <a:avLst/>
          </a:prstGeom>
        </p:spPr>
      </p:pic>
      <p:pic>
        <p:nvPicPr>
          <p:cNvPr id="8" name="Picture 7" descr="transaction_am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2971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452628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4526280"/>
            <a:ext cx="64008" cy="12344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663440"/>
            <a:ext cx="4663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Cleaning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111496"/>
            <a:ext cx="466344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33247"/>
                </a:solidFill>
                <a:latin typeface="Aptos"/>
              </a:rPr>
              <a:t>7,535 raw rows → 7,463 cleaned rows. Duplicates removed; invalid amounts excluded; missing fields imputed; extreme highs capped.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526280"/>
            <a:ext cx="49834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526280"/>
            <a:ext cx="64008" cy="123444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663440"/>
            <a:ext cx="4663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EDA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111496"/>
            <a:ext cx="466344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233247"/>
                </a:solidFill>
                <a:latin typeface="Aptos"/>
              </a:rPr>
              <a:t>Mean amount = INR 1,395; median = INR 494. The right-skewed tail motivates log-spend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Feature engineering and model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04 /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64008" cy="3566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39"/>
            <a:ext cx="32461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Payment-mode-only (5 features)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11095"/>
            <a:ext cx="3246120" cy="28712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Share of transactions made using: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• UPI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• Card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• Digital wallet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• Cash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• EMI/BNPL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2588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25880"/>
            <a:ext cx="64008" cy="356616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39"/>
            <a:ext cx="32461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Combined behaviour (17 features)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11095"/>
            <a:ext cx="3246120" cy="28712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Payment shares + log spending + average ticket + transaction count/frequency + cashback + discount + promo response + EMI usage + channels + category diversity.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64008" cy="356616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463039"/>
            <a:ext cx="32004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ML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11095"/>
            <a:ext cx="3200400" cy="28712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1. Standardize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2. K-Means, k=2..8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3. Agglomerative Ward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4. Internal metrics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5. PCA visualization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33247"/>
                </a:solidFill>
                <a:latin typeface="Aptos"/>
              </a:rPr>
              <a:t>6. Profile clusters and 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B80"/>
                </a:solidFill>
                <a:latin typeface="Aptos"/>
              </a:rPr>
              <a:t>No train-test split is required for the primary descriptive clustering task; temporal / hold-out validation is recommended for any later predictive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Choosing k: Elbow + internal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04 /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8</a:t>
            </a:r>
          </a:p>
        </p:txBody>
      </p:sp>
      <p:pic>
        <p:nvPicPr>
          <p:cNvPr id="7" name="Picture 6" descr="elbow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760720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41732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36192"/>
            <a:ext cx="46177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Combined feature K-Means by 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0" y="1947672"/>
          <a:ext cx="4709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/>
                <a:gridCol w="1177290"/>
                <a:gridCol w="1177290"/>
                <a:gridCol w="117729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k</a:t>
                      </a:r>
                    </a:p>
                  </a:txBody>
                  <a:tcPr marL="45720" marR="45720" marT="13716" marB="13716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Inertia</a:t>
                      </a:r>
                    </a:p>
                  </a:txBody>
                  <a:tcPr marL="45720" marR="45720" marT="13716" marB="13716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Silhouette</a:t>
                      </a:r>
                    </a:p>
                  </a:txBody>
                  <a:tcPr marL="45720" marR="45720" marT="13716" marB="13716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DB index</a:t>
                      </a:r>
                    </a:p>
                  </a:txBody>
                  <a:tcPr marL="45720" marR="45720" marT="13716" marB="13716">
                    <a:solidFill>
                      <a:srgbClr val="12233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9,883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0.227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1.435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7,678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0.257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1.487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6,346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0.276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1.346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5,529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0.282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1.358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5,141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0.251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1.471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4,839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0.240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1.565</a:t>
                      </a:r>
                    </a:p>
                  </a:txBody>
                  <a:tcPr marL="45720" marR="45720" marT="13716" marB="13716">
                    <a:solidFill>
                      <a:srgbClr val="F3F6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4,624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0.223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33247"/>
                          </a:solidFill>
                          <a:latin typeface="Aptos"/>
                        </a:rPr>
                        <a:t>1.639</a:t>
                      </a:r>
                    </a:p>
                  </a:txBody>
                  <a:tcPr marL="45720" marR="45720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457200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4572000"/>
            <a:ext cx="64008" cy="109728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709160"/>
            <a:ext cx="4617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2233F"/>
                </a:solidFill>
                <a:latin typeface="Aptos"/>
              </a:rPr>
              <a:t>Chosen for profiles: k =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5157216"/>
            <a:ext cx="4617720" cy="40233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233247"/>
                </a:solidFill>
                <a:latin typeface="Aptos"/>
              </a:rPr>
              <a:t>Best tested combined-feature silhouette and five readable groups; k=4 has a slightly lower DB index.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Feature richness versus mathematical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05 /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9</a:t>
            </a:r>
          </a:p>
        </p:txBody>
      </p:sp>
      <p:pic>
        <p:nvPicPr>
          <p:cNvPr id="7" name="Picture 6" descr="model_comparison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6537960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371600"/>
            <a:ext cx="4251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60920" y="1371600"/>
            <a:ext cx="64008" cy="123444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508760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Payment-only K-Means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956816"/>
            <a:ext cx="393192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33247"/>
                </a:solidFill>
                <a:latin typeface="Aptos"/>
              </a:rPr>
              <a:t>Silhouette 0.4949  |  DB index 0.7043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2788920"/>
            <a:ext cx="4251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2788920"/>
            <a:ext cx="64008" cy="123444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926079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Combined K-Means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374136"/>
            <a:ext cx="393192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33247"/>
                </a:solidFill>
                <a:latin typeface="Aptos"/>
              </a:rPr>
              <a:t>Silhouette 0.2821  |  DB index 1.3577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4206240"/>
            <a:ext cx="4251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60920" y="4206240"/>
            <a:ext cx="64008" cy="1234440"/>
          </a:xfrm>
          <a:prstGeom prst="rect">
            <a:avLst/>
          </a:prstGeom>
          <a:solidFill>
            <a:srgbClr val="A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4343400"/>
            <a:ext cx="39319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4791455"/>
            <a:ext cx="3931920" cy="5394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Simpler payment preference groups are cleaner. Richer clusters add spend/offer context but overlap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Final five-segment customer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05 /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10</a:t>
            </a:r>
          </a:p>
        </p:txBody>
      </p:sp>
      <p:pic>
        <p:nvPicPr>
          <p:cNvPr id="7" name="Picture 6" descr="cluster_siz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029200" cy="3931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23560" y="1371600"/>
          <a:ext cx="5943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6705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Segment</a:t>
                      </a:r>
                    </a:p>
                  </a:txBody>
                  <a:tcPr marL="45720" marR="45720" marT="64008" marB="64008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Customers</a:t>
                      </a:r>
                    </a:p>
                  </a:txBody>
                  <a:tcPr marL="45720" marR="45720" marT="64008" marB="64008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Avg txn</a:t>
                      </a:r>
                    </a:p>
                  </a:txBody>
                  <a:tcPr marL="45720" marR="45720" marT="64008" marB="64008"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Cashback rate</a:t>
                      </a:r>
                    </a:p>
                  </a:txBody>
                  <a:tcPr marL="45720" marR="45720" marT="64008" marB="64008">
                    <a:solidFill>
                      <a:srgbClr val="12233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UPI-centric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221 (30.7%)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INR 803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27%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Wallet/offer-oriented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117 (16.2%)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INR 974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77%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Cash-oriented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123 (17.1%)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INR 526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3%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Card-oriented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172 (23.9%)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INR 1,740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19%</a:t>
                      </a:r>
                    </a:p>
                  </a:txBody>
                  <a:tcPr marL="45720" marR="45720" marT="64008" marB="64008">
                    <a:solidFill>
                      <a:srgbClr val="F3F6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EMI/BNPL-oriented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87 (12.1%)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INR 4,754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33247"/>
                          </a:solidFill>
                          <a:latin typeface="Aptos"/>
                        </a:rPr>
                        <a:t>24%</a:t>
                      </a:r>
                    </a:p>
                  </a:txBody>
                  <a:tcPr marL="45720" marR="45720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Average spend represents mean customer total across the observed synthetic year; it is not a forecast or verified market estimate.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PCA views: overlap is a result, not a defect to hide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05 /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11</a:t>
            </a:r>
          </a:p>
        </p:txBody>
      </p:sp>
      <p:pic>
        <p:nvPicPr>
          <p:cNvPr id="7" name="Picture 6" descr="pca_payment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5532120" cy="3977639"/>
          </a:xfrm>
          <a:prstGeom prst="rect">
            <a:avLst/>
          </a:prstGeom>
        </p:spPr>
      </p:pic>
      <p:pic>
        <p:nvPicPr>
          <p:cNvPr id="8" name="Picture 7" descr="pca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4864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394960"/>
            <a:ext cx="521208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E7C86"/>
                </a:solidFill>
                <a:latin typeface="Aptos"/>
              </a:rPr>
              <a:t>Payment-only features preserve cleaner mode preference groups in this synthetic example.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5394960"/>
            <a:ext cx="512064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A44949"/>
                </a:solidFill>
                <a:latin typeface="Aptos"/>
              </a:rPr>
              <a:t>Combined features create richer profiles but PCA shows more overlap; 2D projections also omit dimensions.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Turn segments into measurable, responsible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06 /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71600"/>
            <a:ext cx="64008" cy="1600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UPI-centric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56816"/>
            <a:ext cx="315467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Make UPI quick to use; test low-cost rewards and repeat-purchase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64008" cy="160020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087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Wallet /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56816"/>
            <a:ext cx="315467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Run controlled cashback tests; cap rewards and measure incremental margin.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716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371600"/>
            <a:ext cx="64008" cy="1600200"/>
          </a:xfrm>
          <a:prstGeom prst="rect">
            <a:avLst/>
          </a:prstGeom>
          <a:solidFill>
            <a:srgbClr val="A4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087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Cash-oriented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956816"/>
            <a:ext cx="315467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Preserve cash/assisted options; offer optional digital onboarding.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4290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29000"/>
            <a:ext cx="64008" cy="160020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5661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Card-oriented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14215"/>
            <a:ext cx="315467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Test relevant card-linked value before broad discounts.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429000"/>
            <a:ext cx="3474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429000"/>
            <a:ext cx="64008" cy="160020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5661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233F"/>
                </a:solidFill>
                <a:latin typeface="Aptos"/>
              </a:rPr>
              <a:t>EMI / BNPL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14215"/>
            <a:ext cx="3154679" cy="9052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233247"/>
                </a:solidFill>
                <a:latin typeface="Aptos"/>
              </a:rPr>
              <a:t>Show total costs and due dates; build affordability safeguards.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6984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233F"/>
                </a:solidFill>
                <a:latin typeface="Aptos"/>
              </a:rPr>
              <a:t>Measure incremental contribution margin, conversion, complaints, and segment stability; do not treat correlations as causal effects.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Limitations and deployment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06 /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789920" cy="42976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Data are simulated; cluster sizes, INR values, and offer rates are not real-world estimates.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Internal metrics measure geometric separation, not business impact or causal promotional lift.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Model results depend on feature scaling, selected k, correlation, and the observation period.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Validate on governed real transaction data; test stability by month and measure interventions using controlled experiments.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Use access controls, data minimization, security review, and documented purposes.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33247"/>
                </a:solidFill>
                <a:latin typeface="Aptos"/>
              </a:rPr>
              <a:t>• Do not infer sensitive traits or make credit/eligibility/punitive decisions from payment behaviour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07 /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64008" cy="21031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087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What was built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56816"/>
            <a:ext cx="3154679" cy="14081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33247"/>
                </a:solidFill>
                <a:latin typeface="Aptos"/>
              </a:rPr>
              <a:t>End-to-end data cleaning, EDA, customer aggregation, scaled features, clustering, evaluation and PCA.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64008" cy="2103120"/>
          </a:xfrm>
          <a:prstGeom prst="rect">
            <a:avLst/>
          </a:prstGeom>
          <a:solidFill>
            <a:srgbClr val="E3A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5087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What the metrics say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56816"/>
            <a:ext cx="3154679" cy="14081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33247"/>
                </a:solidFill>
                <a:latin typeface="Aptos"/>
              </a:rPr>
              <a:t>At k=5, payment-only K-Means is better separated than the richer combined 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64008" cy="2103120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31546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233F"/>
                </a:solidFill>
                <a:latin typeface="Aptos"/>
              </a:rPr>
              <a:t>What to do 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56816"/>
            <a:ext cx="3154679" cy="140817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33247"/>
                </a:solidFill>
                <a:latin typeface="Aptos"/>
              </a:rPr>
              <a:t>Use both segment views as hypotheses; validate them and measure actual business impact.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424160" cy="9601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2233F"/>
                </a:solidFill>
                <a:latin typeface="Aptos"/>
              </a:rPr>
              <a:t>Final takeaway: the richest feature set is not automatically the best-clustered. Choose the model based on a balance of separation, interpretability, stability, and responsible business value.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4241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E7C86"/>
                </a:solidFill>
                <a:latin typeface="Aptos"/>
              </a:rPr>
              <a:t>Thank you  | 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7C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2233F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04672"/>
            <a:ext cx="10698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0E7C86"/>
                </a:solidFill>
                <a:latin typeface="Aptos"/>
              </a:rPr>
              <a:t>08 /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51052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900"/>
              </a:spcAft>
            </a:pPr>
            <a:r>
              <a:rPr sz="1100">
                <a:solidFill>
                  <a:srgbClr val="233247"/>
                </a:solidFill>
                <a:latin typeface="Aptos"/>
              </a:rPr>
              <a:t>• [1] Reserve Bank of India (2024), Annual Report 2023-24, Department of Payment and Settlement Systems. https://systemhealth.rbi.org.in/Scripts/AnnualReportPublications.aspx_Id%3D1409%281%29.html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233247"/>
                </a:solidFill>
                <a:latin typeface="Aptos"/>
              </a:rPr>
              <a:t>• [2] Reserve Bank of India (2024), Chapter III: Digitalisation and Payment Revolution in India. https://rbi.org.in/scripts/PublicationsView.aspx?id=22459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233247"/>
                </a:solidFill>
                <a:latin typeface="Aptos"/>
              </a:rPr>
              <a:t>• [3] World Bank (2025), The Global Findex Database 2025. https://www.worldbank.org/en/publication/globalfindex/report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233247"/>
                </a:solidFill>
                <a:latin typeface="Aptos"/>
              </a:rPr>
              <a:t>• [4] scikit-learn documentation, Clustering (K-Means, agglomerative clustering and metrics). https://scikit-learn.org/stable/modules/clustering.html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233247"/>
                </a:solidFill>
                <a:latin typeface="Aptos"/>
              </a:rPr>
              <a:t>• [5] scikit-learn documentation, PCA. https://scikit-learn.org/stable/modules/decomposition.html#pca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233247"/>
                </a:solidFill>
                <a:latin typeface="Aptos"/>
              </a:rPr>
              <a:t>• [6] Rousseeuw (1987), Silhouettes: A Graphical Aid to the Interpretation and Validation of Cluster Analysis, Journal of Computational and Applied Mathematics, 20, 53-65.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6070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B80"/>
                </a:solidFill>
                <a:latin typeface="Aptos"/>
              </a:rPr>
              <a:t>External references inform context and method definitions; quantitative model results are from the synthetic dataset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Behaviour &amp; Digital Payment Intelligence</dc:title>
  <dc:subject/>
  <dc:creator>Anubhav Dash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